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6" r:id="rId4"/>
    <p:sldId id="260" r:id="rId5"/>
    <p:sldId id="259" r:id="rId6"/>
    <p:sldId id="264" r:id="rId7"/>
    <p:sldId id="269" r:id="rId8"/>
    <p:sldId id="261" r:id="rId9"/>
    <p:sldId id="262" r:id="rId10"/>
    <p:sldId id="263" r:id="rId11"/>
    <p:sldId id="275" r:id="rId12"/>
    <p:sldId id="257" r:id="rId13"/>
    <p:sldId id="271" r:id="rId14"/>
    <p:sldId id="265" r:id="rId15"/>
    <p:sldId id="272" r:id="rId16"/>
    <p:sldId id="273" r:id="rId17"/>
    <p:sldId id="274" r:id="rId18"/>
    <p:sldId id="277" r:id="rId19"/>
    <p:sldId id="280" r:id="rId20"/>
    <p:sldId id="278" r:id="rId21"/>
    <p:sldId id="279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2" r:id="rId40"/>
    <p:sldId id="301" r:id="rId41"/>
    <p:sldId id="303" r:id="rId42"/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2" r:id="rId51"/>
    <p:sldId id="317" r:id="rId52"/>
    <p:sldId id="318" r:id="rId53"/>
    <p:sldId id="319" r:id="rId54"/>
    <p:sldId id="320" r:id="rId5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ABBA409-78E8-4DDE-9C32-CE7428383003}">
          <p14:sldIdLst>
            <p14:sldId id="256"/>
            <p14:sldId id="258"/>
            <p14:sldId id="276"/>
            <p14:sldId id="260"/>
            <p14:sldId id="259"/>
            <p14:sldId id="264"/>
            <p14:sldId id="269"/>
            <p14:sldId id="261"/>
            <p14:sldId id="262"/>
            <p14:sldId id="263"/>
            <p14:sldId id="275"/>
            <p14:sldId id="257"/>
            <p14:sldId id="271"/>
            <p14:sldId id="265"/>
            <p14:sldId id="272"/>
          </p14:sldIdLst>
        </p14:section>
        <p14:section name="Раздел без заголовка" id="{8463E8A0-1630-4297-A97E-41DA3BE7AB58}">
          <p14:sldIdLst>
            <p14:sldId id="273"/>
            <p14:sldId id="274"/>
            <p14:sldId id="277"/>
            <p14:sldId id="280"/>
            <p14:sldId id="278"/>
            <p14:sldId id="279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2"/>
            <p14:sldId id="301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7"/>
            <p14:sldId id="318"/>
            <p14:sldId id="319"/>
            <p14:sldId id="32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26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26480-4D18-4DEA-BF69-A0D5DFBC8FDD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11AC6-0B6E-4B5C-9AFB-C4726E7FC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454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26480-4D18-4DEA-BF69-A0D5DFBC8FDD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11AC6-0B6E-4B5C-9AFB-C4726E7FC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298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26480-4D18-4DEA-BF69-A0D5DFBC8FDD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11AC6-0B6E-4B5C-9AFB-C4726E7FC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777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26480-4D18-4DEA-BF69-A0D5DFBC8FDD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11AC6-0B6E-4B5C-9AFB-C4726E7FC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3156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26480-4D18-4DEA-BF69-A0D5DFBC8FDD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11AC6-0B6E-4B5C-9AFB-C4726E7FC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7368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26480-4D18-4DEA-BF69-A0D5DFBC8FDD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11AC6-0B6E-4B5C-9AFB-C4726E7FC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9663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26480-4D18-4DEA-BF69-A0D5DFBC8FDD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11AC6-0B6E-4B5C-9AFB-C4726E7FC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293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26480-4D18-4DEA-BF69-A0D5DFBC8FDD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11AC6-0B6E-4B5C-9AFB-C4726E7FC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1036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26480-4D18-4DEA-BF69-A0D5DFBC8FDD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11AC6-0B6E-4B5C-9AFB-C4726E7FC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5208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26480-4D18-4DEA-BF69-A0D5DFBC8FDD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11AC6-0B6E-4B5C-9AFB-C4726E7FC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4247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26480-4D18-4DEA-BF69-A0D5DFBC8FDD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11AC6-0B6E-4B5C-9AFB-C4726E7FC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3812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26480-4D18-4DEA-BF69-A0D5DFBC8FDD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11AC6-0B6E-4B5C-9AFB-C4726E7FC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7329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kpolyakov.spb.ru/school/ege/generate.ht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23528" y="2130425"/>
            <a:ext cx="8568952" cy="1470025"/>
          </a:xfrm>
        </p:spPr>
        <p:txBody>
          <a:bodyPr/>
          <a:lstStyle/>
          <a:p>
            <a:r>
              <a:rPr lang="ru-RU" dirty="0" smtClean="0"/>
              <a:t>Алгоритмы решения задания 15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Подготовка к ЕГЭ по информатике</a:t>
            </a:r>
          </a:p>
          <a:p>
            <a:r>
              <a:rPr lang="ru-RU" dirty="0" smtClean="0"/>
              <a:t>10-11 классы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783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Источники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Примеры задач взяты на странице генератора заданий ЕГЭ сайта </a:t>
            </a:r>
            <a:r>
              <a:rPr lang="ru-RU" dirty="0" err="1" smtClean="0"/>
              <a:t>К.Полякова</a:t>
            </a:r>
            <a:r>
              <a:rPr lang="ru-RU" dirty="0" smtClean="0"/>
              <a:t>:</a:t>
            </a:r>
            <a:r>
              <a:rPr lang="ru-RU" dirty="0"/>
              <a:t/>
            </a:r>
            <a:br>
              <a:rPr lang="ru-RU" dirty="0"/>
            </a:br>
            <a:r>
              <a:rPr lang="en-US" sz="2800" dirty="0" smtClean="0">
                <a:hlinkClick r:id="rId2"/>
              </a:rPr>
              <a:t>https://</a:t>
            </a:r>
            <a:r>
              <a:rPr lang="en-US" sz="2800" dirty="0" err="1" smtClean="0">
                <a:hlinkClick r:id="rId2"/>
              </a:rPr>
              <a:t>kpolyakov.spb.ru</a:t>
            </a:r>
            <a:r>
              <a:rPr lang="en-US" sz="2800" dirty="0" smtClean="0">
                <a:hlinkClick r:id="rId2"/>
              </a:rPr>
              <a:t>/school/</a:t>
            </a:r>
            <a:r>
              <a:rPr lang="en-US" sz="2800" dirty="0" err="1" smtClean="0">
                <a:hlinkClick r:id="rId2"/>
              </a:rPr>
              <a:t>ege</a:t>
            </a:r>
            <a:r>
              <a:rPr lang="en-US" sz="2800" dirty="0" smtClean="0">
                <a:hlinkClick r:id="rId2"/>
              </a:rPr>
              <a:t>/</a:t>
            </a:r>
            <a:r>
              <a:rPr lang="en-US" sz="2800" dirty="0" err="1" smtClean="0">
                <a:hlinkClick r:id="rId2"/>
              </a:rPr>
              <a:t>generate.htm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Каждое задание снабжено номером из каталога заданий указанного источника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9913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Виды заданий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5 видов заданий:</a:t>
            </a:r>
          </a:p>
          <a:p>
            <a:r>
              <a:rPr lang="ru-RU" dirty="0" smtClean="0">
                <a:latin typeface="Arial Narrow" panose="020B0606020202030204" pitchFamily="34" charset="0"/>
              </a:rPr>
              <a:t>задачи </a:t>
            </a:r>
            <a:r>
              <a:rPr lang="ru-RU" dirty="0">
                <a:latin typeface="Arial Narrow" panose="020B0606020202030204" pitchFamily="34" charset="0"/>
              </a:rPr>
              <a:t>с </a:t>
            </a:r>
            <a:r>
              <a:rPr lang="ru-RU" dirty="0" smtClean="0">
                <a:latin typeface="Arial Narrow" panose="020B0606020202030204" pitchFamily="34" charset="0"/>
              </a:rPr>
              <a:t>отрезками</a:t>
            </a:r>
            <a:r>
              <a:rPr lang="en-US" dirty="0" smtClean="0">
                <a:latin typeface="Arial Narrow" panose="020B0606020202030204" pitchFamily="34" charset="0"/>
              </a:rPr>
              <a:t>;</a:t>
            </a:r>
            <a:endParaRPr lang="ru-RU" dirty="0">
              <a:latin typeface="Arial Narrow" panose="020B0606020202030204" pitchFamily="34" charset="0"/>
            </a:endParaRPr>
          </a:p>
          <a:p>
            <a:r>
              <a:rPr lang="ru-RU" dirty="0" smtClean="0">
                <a:latin typeface="Arial Narrow" panose="020B0606020202030204" pitchFamily="34" charset="0"/>
              </a:rPr>
              <a:t>задачи </a:t>
            </a:r>
            <a:r>
              <a:rPr lang="ru-RU" dirty="0">
                <a:latin typeface="Arial Narrow" panose="020B0606020202030204" pitchFamily="34" charset="0"/>
              </a:rPr>
              <a:t>на множества </a:t>
            </a:r>
            <a:r>
              <a:rPr lang="ru-RU" dirty="0" smtClean="0">
                <a:latin typeface="Arial Narrow" panose="020B0606020202030204" pitchFamily="34" charset="0"/>
              </a:rPr>
              <a:t>чисел</a:t>
            </a:r>
            <a:r>
              <a:rPr lang="en-US" dirty="0" smtClean="0">
                <a:latin typeface="Arial Narrow" panose="020B0606020202030204" pitchFamily="34" charset="0"/>
              </a:rPr>
              <a:t>;</a:t>
            </a:r>
            <a:endParaRPr lang="ru-RU" dirty="0">
              <a:latin typeface="Arial Narrow" panose="020B0606020202030204" pitchFamily="34" charset="0"/>
            </a:endParaRPr>
          </a:p>
          <a:p>
            <a:r>
              <a:rPr lang="ru-RU" dirty="0" smtClean="0">
                <a:latin typeface="Arial Narrow" panose="020B0606020202030204" pitchFamily="34" charset="0"/>
              </a:rPr>
              <a:t>задачи </a:t>
            </a:r>
            <a:r>
              <a:rPr lang="ru-RU" dirty="0">
                <a:latin typeface="Arial Narrow" panose="020B0606020202030204" pitchFamily="34" charset="0"/>
              </a:rPr>
              <a:t>с </a:t>
            </a:r>
            <a:r>
              <a:rPr lang="ru-RU" dirty="0" smtClean="0">
                <a:latin typeface="Arial Narrow" panose="020B0606020202030204" pitchFamily="34" charset="0"/>
              </a:rPr>
              <a:t>делителями</a:t>
            </a:r>
            <a:r>
              <a:rPr lang="en-US" dirty="0" smtClean="0">
                <a:latin typeface="Arial Narrow" panose="020B0606020202030204" pitchFamily="34" charset="0"/>
              </a:rPr>
              <a:t>;</a:t>
            </a:r>
            <a:endParaRPr lang="ru-RU" dirty="0">
              <a:latin typeface="Arial Narrow" panose="020B0606020202030204" pitchFamily="34" charset="0"/>
            </a:endParaRPr>
          </a:p>
          <a:p>
            <a:r>
              <a:rPr lang="ru-RU" dirty="0" smtClean="0">
                <a:latin typeface="Arial Narrow" panose="020B0606020202030204" pitchFamily="34" charset="0"/>
              </a:rPr>
              <a:t>задачи </a:t>
            </a:r>
            <a:r>
              <a:rPr lang="ru-RU" dirty="0">
                <a:latin typeface="Arial Narrow" panose="020B0606020202030204" pitchFamily="34" charset="0"/>
              </a:rPr>
              <a:t>с битовыми логическими </a:t>
            </a:r>
            <a:r>
              <a:rPr lang="ru-RU" dirty="0" smtClean="0">
                <a:latin typeface="Arial Narrow" panose="020B0606020202030204" pitchFamily="34" charset="0"/>
              </a:rPr>
              <a:t>операциями</a:t>
            </a:r>
            <a:r>
              <a:rPr lang="en-US" dirty="0" smtClean="0">
                <a:latin typeface="Arial Narrow" panose="020B0606020202030204" pitchFamily="34" charset="0"/>
              </a:rPr>
              <a:t>;</a:t>
            </a:r>
            <a:endParaRPr lang="ru-RU" dirty="0">
              <a:latin typeface="Arial Narrow" panose="020B0606020202030204" pitchFamily="34" charset="0"/>
            </a:endParaRPr>
          </a:p>
          <a:p>
            <a:r>
              <a:rPr lang="ru-RU" dirty="0" smtClean="0">
                <a:latin typeface="Arial Narrow" panose="020B0606020202030204" pitchFamily="34" charset="0"/>
              </a:rPr>
              <a:t>анализ </a:t>
            </a:r>
            <a:r>
              <a:rPr lang="ru-RU" dirty="0">
                <a:latin typeface="Arial Narrow" panose="020B0606020202030204" pitchFamily="34" charset="0"/>
              </a:rPr>
              <a:t>неравенств на </a:t>
            </a:r>
            <a:r>
              <a:rPr lang="ru-RU" dirty="0" smtClean="0">
                <a:latin typeface="Arial Narrow" panose="020B0606020202030204" pitchFamily="34" charset="0"/>
              </a:rPr>
              <a:t>плоскости</a:t>
            </a:r>
            <a:r>
              <a:rPr lang="en-US" dirty="0">
                <a:latin typeface="Arial Narrow" panose="020B0606020202030204" pitchFamily="34" charset="0"/>
              </a:rPr>
              <a:t>.</a:t>
            </a:r>
            <a:endParaRPr lang="ru-RU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464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496944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Задание с отрезками</a:t>
            </a:r>
            <a:r>
              <a:rPr lang="en-US" dirty="0" smtClean="0"/>
              <a:t>:</a:t>
            </a:r>
            <a:r>
              <a:rPr lang="ru-RU" dirty="0" smtClean="0"/>
              <a:t> </a:t>
            </a:r>
            <a:r>
              <a:rPr lang="ru-RU" dirty="0"/>
              <a:t>о</a:t>
            </a:r>
            <a:r>
              <a:rPr lang="ru-RU" dirty="0" smtClean="0"/>
              <a:t>собенности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2 подхода к решению: </a:t>
            </a:r>
          </a:p>
          <a:p>
            <a:pPr marL="857250" lvl="1" indent="-457200"/>
            <a:r>
              <a:rPr lang="ru-RU" dirty="0" smtClean="0"/>
              <a:t>аналитический – на основе применения законов логики для минимизации критерия истинности;</a:t>
            </a:r>
          </a:p>
          <a:p>
            <a:pPr marL="857250" lvl="1" indent="-457200"/>
            <a:r>
              <a:rPr lang="ru-RU" dirty="0" smtClean="0"/>
              <a:t>компьютерный перебор при </a:t>
            </a:r>
            <a:r>
              <a:rPr lang="ru-RU" smtClean="0"/>
              <a:t>помощи программы.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2 типа заданий: </a:t>
            </a:r>
          </a:p>
          <a:p>
            <a:pPr marL="857250" lvl="1" indent="-457200"/>
            <a:r>
              <a:rPr lang="ru-RU" dirty="0"/>
              <a:t>н</a:t>
            </a:r>
            <a:r>
              <a:rPr lang="ru-RU" dirty="0" smtClean="0"/>
              <a:t>айти отрезок наибольшей длины;</a:t>
            </a:r>
          </a:p>
          <a:p>
            <a:pPr marL="857250" lvl="1" indent="-457200"/>
            <a:r>
              <a:rPr lang="ru-RU" dirty="0" smtClean="0"/>
              <a:t>найти отрезок наименьшей длины</a:t>
            </a:r>
          </a:p>
        </p:txBody>
      </p:sp>
    </p:spTree>
    <p:extLst>
      <p:ext uri="{BB962C8B-B14F-4D97-AF65-F5344CB8AC3E}">
        <p14:creationId xmlns:p14="http://schemas.microsoft.com/office/powerpoint/2010/main" val="553106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Задание с отрезками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0000FF"/>
                </a:solidFill>
              </a:rPr>
              <a:t>Пример </a:t>
            </a:r>
            <a:r>
              <a:rPr lang="ru-RU" dirty="0"/>
              <a:t>задачи </a:t>
            </a:r>
            <a:r>
              <a:rPr lang="ru-RU" dirty="0">
                <a:solidFill>
                  <a:srgbClr val="0000FF"/>
                </a:solidFill>
              </a:rPr>
              <a:t>№ 1</a:t>
            </a:r>
            <a:r>
              <a:rPr lang="ru-RU" dirty="0"/>
              <a:t>:</a:t>
            </a:r>
          </a:p>
          <a:p>
            <a:pPr marL="400050" lvl="1" indent="0">
              <a:buNone/>
            </a:pPr>
            <a:r>
              <a:rPr lang="ru-RU" dirty="0" smtClean="0"/>
              <a:t>(№ 4869) На числовой прямой даны два отрезка: P=[25;37] и Q=[32;47]. Укажите </a:t>
            </a:r>
            <a:r>
              <a:rPr lang="ru-RU" dirty="0" smtClean="0">
                <a:solidFill>
                  <a:srgbClr val="00B050"/>
                </a:solidFill>
              </a:rPr>
              <a:t>наибольшую</a:t>
            </a:r>
            <a:r>
              <a:rPr lang="ru-RU" dirty="0" smtClean="0"/>
              <a:t> возможную длину такого отрезка A, что формула</a:t>
            </a:r>
          </a:p>
          <a:p>
            <a:pPr marL="400050" lvl="1" indent="0">
              <a:buNone/>
            </a:pPr>
            <a:r>
              <a:rPr lang="ru-RU" dirty="0" smtClean="0"/>
              <a:t>( (x ∈ A) ∧ ¬(x ∈ P)) → (¬(x ∈ P) ∧ (x ∈ Q))</a:t>
            </a:r>
          </a:p>
          <a:p>
            <a:pPr marL="400050" lvl="1" indent="0">
              <a:buNone/>
            </a:pPr>
            <a:r>
              <a:rPr lang="ru-RU" dirty="0" smtClean="0"/>
              <a:t>тождественно истинна, то есть принимает значение 1 при любых x.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1523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Шаблон №1 программы решения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 = range(); Q = range()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md = 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a2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in range(1,???):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0,a2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A=range(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a1,a2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f= all( (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x in range(1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,???))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if f: </a:t>
            </a:r>
            <a:r>
              <a:rPr lang="en-US" sz="24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#md=max(md,a2-a1)</a:t>
            </a:r>
            <a:endParaRPr lang="en-US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md 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 </a:t>
            </a:r>
            <a:r>
              <a:rPr lang="en-US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a2-a1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md=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a2-a1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a11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print(md, '&lt;-',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a11,a22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48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№1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 = range(25, 37); Q = range(32,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47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); md = 0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2400" b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range(1,</a:t>
            </a:r>
            <a:r>
              <a:rPr lang="en-US" sz="2400" b="1" u="sng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en-US" sz="24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0,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A=range(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a1,a2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f= all(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  ) for x in </a:t>
            </a:r>
            <a:r>
              <a:rPr lang="en-US" sz="2400" b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range(1,</a:t>
            </a:r>
            <a:r>
              <a:rPr lang="en-US" sz="2400" b="1" u="sng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en-US" sz="2400" b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f: 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if md &lt;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a2-a1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 md=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a2-a1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print(md, '&lt;-',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a11,a22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623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№1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 = range(25, 37); Q = range(32, 47); md = 0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range(1,100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0,a2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A=range(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a1,a2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f=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all( 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 ) for x in range(1,100))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f: 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if md &lt;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a2-a1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 md=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a2-a1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print(md, '&lt;-',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a11,a22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6862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№1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 = range(25, 37); Q = range(32, 47); md = 0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range(1,100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0,a2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A=range(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a1,a2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f= all(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 ((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∈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A)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∧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¬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∈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P))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→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¬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∈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P)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∧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(x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∈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Q)) )\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in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range(1,100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if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f: 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if md &lt;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a2-a1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 md=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a2-a1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print(md, '&lt;-',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a11,a22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682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№1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 = range(25, 37); Q = range(32, 47); md = 0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range(1,1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0,a2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A=range(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a1,a2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f= all( ( ( (x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A)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P)) \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((x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P)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Q)) )\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for x in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range(1,1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if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f: 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if md &lt;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a2-a1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 md=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a2-a1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print(md, '&lt;-',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a11,a22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59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№1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 = range(25, 37); Q = range(32, 47); md = 0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range(1,1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0,a2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A=range(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a1,a2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f= all( ( ( (x in A) and (x not in P)) \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&lt;= ((x not in P) and (x in Q)) )\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for x in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range(1,1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if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f: 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if md &lt;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a2-a1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 md=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a2-a1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print(md, '&lt;-',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a11,a22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Ответ: </a:t>
            </a:r>
            <a:r>
              <a:rPr lang="ru-RU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  <a:r>
              <a:rPr lang="ru-RU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&lt;- 25 47</a:t>
            </a:r>
          </a:p>
          <a:p>
            <a:pPr marL="0" indent="0">
              <a:buNone/>
            </a:pP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283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Задание с отрезками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0000FF"/>
                </a:solidFill>
              </a:rPr>
              <a:t>Пример </a:t>
            </a:r>
            <a:r>
              <a:rPr lang="ru-RU" dirty="0" smtClean="0"/>
              <a:t>задачи </a:t>
            </a:r>
            <a:r>
              <a:rPr lang="ru-RU" dirty="0" smtClean="0">
                <a:solidFill>
                  <a:srgbClr val="0000FF"/>
                </a:solidFill>
              </a:rPr>
              <a:t>№ </a:t>
            </a:r>
            <a:r>
              <a:rPr lang="en-US" dirty="0" smtClean="0">
                <a:solidFill>
                  <a:srgbClr val="0000FF"/>
                </a:solidFill>
              </a:rPr>
              <a:t>2</a:t>
            </a:r>
            <a:r>
              <a:rPr lang="ru-RU" dirty="0" smtClean="0"/>
              <a:t>:</a:t>
            </a:r>
          </a:p>
          <a:p>
            <a:pPr marL="400050" lvl="1" indent="0">
              <a:buNone/>
            </a:pPr>
            <a:r>
              <a:rPr lang="ru-RU" dirty="0"/>
              <a:t>(№ 4654) На числовой прямой даны два отрезка: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P </a:t>
            </a:r>
            <a:r>
              <a:rPr lang="ru-RU" dirty="0"/>
              <a:t>= [20, 50] и Q = [30, 40]. Найдите </a:t>
            </a:r>
            <a:r>
              <a:rPr lang="ru-RU" dirty="0">
                <a:solidFill>
                  <a:srgbClr val="00B050"/>
                </a:solidFill>
              </a:rPr>
              <a:t>наименьшую</a:t>
            </a:r>
            <a:r>
              <a:rPr lang="ru-RU" dirty="0"/>
              <a:t> возможную длину отрезка A, при котором формула</a:t>
            </a:r>
          </a:p>
          <a:p>
            <a:pPr marL="400050" lvl="1" indent="0">
              <a:buNone/>
            </a:pPr>
            <a:r>
              <a:rPr lang="ru-RU" dirty="0"/>
              <a:t>¬(x ∈ A) → ¬((x ∈ P) ∨ (x ∈ Q))</a:t>
            </a:r>
          </a:p>
          <a:p>
            <a:pPr marL="400050" lvl="1" indent="0">
              <a:buNone/>
            </a:pPr>
            <a:r>
              <a:rPr lang="ru-RU" dirty="0" smtClean="0"/>
              <a:t>тождественно </a:t>
            </a:r>
            <a:r>
              <a:rPr lang="ru-RU" dirty="0"/>
              <a:t>истинна, то есть принимает значение 1 при любых x.</a:t>
            </a:r>
          </a:p>
        </p:txBody>
      </p:sp>
    </p:spTree>
    <p:extLst>
      <p:ext uri="{BB962C8B-B14F-4D97-AF65-F5344CB8AC3E}">
        <p14:creationId xmlns:p14="http://schemas.microsoft.com/office/powerpoint/2010/main" val="33459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Шаблон №</a:t>
            </a:r>
            <a:r>
              <a:rPr lang="en-US" dirty="0" err="1"/>
              <a:t>2</a:t>
            </a:r>
            <a:r>
              <a:rPr lang="ru-RU" dirty="0" smtClean="0"/>
              <a:t> программа решения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 = range(); Q = range()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md = 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100000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a2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in range(1,???):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0,a2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A=range(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a1,a2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f= all( 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  </a:t>
            </a:r>
            <a:r>
              <a:rPr lang="en-US" sz="2400" smtClean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x in range(1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,???))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if f: 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md &gt; </a:t>
            </a:r>
            <a:r>
              <a:rPr lang="en-US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a2-a1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md=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a2-a1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a11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print(md, '&lt;-',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a11,a22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706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</a:t>
            </a:r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 =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range(20, </a:t>
            </a:r>
            <a:r>
              <a:rPr lang="en-US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Q =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range(3	0, 40); 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md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10000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2400" b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range(1,</a:t>
            </a:r>
            <a:r>
              <a:rPr lang="en-US" sz="2400" b="1" u="sng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en-US" sz="24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0,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A=range(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a1,a2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f= all( </a:t>
            </a:r>
            <a:r>
              <a:rPr lang="en-US" sz="24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 ) for x in </a:t>
            </a:r>
            <a:r>
              <a:rPr lang="en-US" sz="2400" b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range(1,</a:t>
            </a:r>
            <a:r>
              <a:rPr lang="en-US" sz="2400" b="1" u="sng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en-US" sz="2400" b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f: 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if md &gt;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a2-a1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 md=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a2-a1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print(md, '&lt;-',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a11,a22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94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</a:t>
            </a:r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 = range(20, 50); Q = range(3	0, 40); 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md = 10000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range(1,100):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0,a2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A=range(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a1,a2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f= all( (</a:t>
            </a:r>
            <a:r>
              <a:rPr lang="ru-RU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¬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 </a:t>
            </a:r>
            <a:r>
              <a:rPr lang="ru-RU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∈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A) </a:t>
            </a:r>
            <a:r>
              <a:rPr lang="ru-RU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→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¬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((x </a:t>
            </a:r>
            <a:r>
              <a:rPr lang="ru-RU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∈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P) </a:t>
            </a:r>
            <a:r>
              <a:rPr lang="ru-RU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∨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(x </a:t>
            </a:r>
            <a:r>
              <a:rPr lang="ru-RU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∈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Q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)\                 		  for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in range(1,100))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if f: 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if md &gt;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a2-a1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 md=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a2-a1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print(md,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'&lt;-',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a11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a22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7116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</a:t>
            </a:r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 = range(20, 50); Q = range(3	0, 40); 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md = 10000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range(1,100):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0,a2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A=range(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a1,a2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1" indent="0">
              <a:buNone/>
            </a:pPr>
            <a:r>
              <a:rPr lang="en-US" sz="24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# </a:t>
            </a:r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 </a:t>
            </a:r>
            <a:r>
              <a:rPr lang="ru-RU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Добавлены </a:t>
            </a:r>
            <a:r>
              <a:rPr lang="ru-RU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вокруг </a:t>
            </a:r>
            <a:r>
              <a:rPr lang="en-US" sz="2400" b="1" kern="0" spc="-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ru-RU" sz="24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синтаксис</a:t>
            </a:r>
            <a:endParaRPr lang="en-US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kern="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f=all</a:t>
            </a:r>
            <a:r>
              <a:rPr lang="en-US" sz="2400" kern="0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2400" kern="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b="1" kern="0" spc="-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kern="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kern="0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z="2400" b="1" kern="0" spc="-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 </a:t>
            </a:r>
            <a:r>
              <a:rPr lang="en-US" sz="2400" b="1" kern="0" spc="-2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ru-RU" sz="2400" kern="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kern="0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ru-RU" sz="2400" kern="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b="1" kern="0" spc="-2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2400" b="1" kern="0" spc="-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(not</a:t>
            </a:r>
            <a:r>
              <a:rPr lang="ru-RU" sz="2400" kern="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ru-RU" sz="2400" kern="0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z="2400" b="1" kern="0" spc="-2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ru-RU" sz="2400" kern="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P)</a:t>
            </a:r>
            <a:r>
              <a:rPr lang="en-US" sz="2400" b="1" kern="0" spc="-2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ru-RU" sz="2400" kern="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 </a:t>
            </a:r>
            <a:r>
              <a:rPr lang="en-US" sz="2400" b="1" kern="0" spc="-2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ru-RU" sz="2400" kern="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kern="0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Q</a:t>
            </a:r>
            <a:r>
              <a:rPr lang="ru-RU" sz="2400" kern="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r>
              <a:rPr lang="en-US" sz="2400" b="1" kern="0" spc="-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kern="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)\</a:t>
            </a:r>
            <a:br>
              <a:rPr lang="en-US" sz="2400" kern="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kern="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for </a:t>
            </a:r>
            <a:r>
              <a:rPr lang="en-US" sz="2400" kern="0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x in range(1,100))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if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f: 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if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md &gt;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a2-a1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 md=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a2-a1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print(md,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'&lt;-',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a11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a22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793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</a:t>
            </a:r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 = range(20, 50); Q =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range(30,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40); 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md = 10000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range(1,100):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0,a2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A=range(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a1,a2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# !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Добавлены 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вокруг </a:t>
            </a:r>
            <a:r>
              <a:rPr lang="en-US" sz="2400" b="1" kern="0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-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синтаксис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kern="0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f=all( (</a:t>
            </a:r>
            <a:r>
              <a:rPr lang="ru-RU" sz="2400" b="1" kern="0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kern="0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(x </a:t>
            </a:r>
            <a:r>
              <a:rPr lang="en-US" sz="2400" b="1" kern="0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not in</a:t>
            </a:r>
            <a:r>
              <a:rPr lang="ru-RU" sz="2400" kern="0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 A)</a:t>
            </a:r>
            <a:r>
              <a:rPr lang="en-US" sz="2400" b="1" kern="0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&lt;=(not</a:t>
            </a:r>
            <a:r>
              <a:rPr lang="ru-RU" sz="2400" kern="0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((x </a:t>
            </a:r>
            <a:r>
              <a:rPr lang="en-US" sz="2400" b="1" kern="0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ru-RU" sz="2400" kern="0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 P)</a:t>
            </a:r>
            <a:r>
              <a:rPr lang="en-US" sz="2400" b="1" kern="0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ru-RU" sz="2400" kern="0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(x </a:t>
            </a:r>
            <a:r>
              <a:rPr lang="en-US" sz="2400" b="1" kern="0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ru-RU" sz="2400" kern="0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 Q))</a:t>
            </a:r>
            <a:r>
              <a:rPr lang="en-US" sz="2400" b="1" kern="0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kern="0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 )\</a:t>
            </a:r>
            <a:br>
              <a:rPr lang="en-US" sz="2400" kern="0" spc="-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kern="0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2400" kern="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sz="2400" kern="0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x in range(1,100))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if f: 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md &gt;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a2-a1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 md=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a2-a1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print(md, '&lt;-',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a11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a22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24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Ответ: </a:t>
            </a:r>
            <a:r>
              <a:rPr lang="ru-RU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 </a:t>
            </a:r>
            <a:r>
              <a:rPr lang="ru-RU" sz="24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&lt;- 20 50</a:t>
            </a:r>
            <a:endParaRPr lang="ru-RU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023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Задание на</a:t>
            </a:r>
            <a:r>
              <a:rPr lang="en-US" dirty="0" smtClean="0"/>
              <a:t> </a:t>
            </a:r>
            <a:r>
              <a:rPr lang="ru-RU" dirty="0" smtClean="0"/>
              <a:t>множества</a:t>
            </a:r>
            <a:r>
              <a:rPr lang="en-US" dirty="0" smtClean="0"/>
              <a:t>:</a:t>
            </a:r>
            <a:r>
              <a:rPr lang="ru-RU" dirty="0" smtClean="0"/>
              <a:t> </a:t>
            </a:r>
            <a:r>
              <a:rPr lang="ru-RU" dirty="0"/>
              <a:t>о</a:t>
            </a:r>
            <a:r>
              <a:rPr lang="ru-RU" dirty="0" smtClean="0"/>
              <a:t>собенности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2 подхода к решению: </a:t>
            </a:r>
          </a:p>
          <a:p>
            <a:pPr marL="857250" lvl="1" indent="-457200"/>
            <a:r>
              <a:rPr lang="ru-RU" dirty="0" smtClean="0"/>
              <a:t>аналитический – на основе применения законов логики для минимизации критерия истинности;</a:t>
            </a:r>
          </a:p>
          <a:p>
            <a:pPr marL="857250" lvl="1" indent="-457200"/>
            <a:r>
              <a:rPr lang="ru-RU" dirty="0" smtClean="0"/>
              <a:t>компьютерный перебор при помощи программы.</a:t>
            </a:r>
          </a:p>
          <a:p>
            <a:pPr marL="0" indent="0">
              <a:buNone/>
            </a:pPr>
            <a:r>
              <a:rPr lang="ru-RU" dirty="0" smtClean="0"/>
              <a:t>2 типа заданий: </a:t>
            </a:r>
          </a:p>
          <a:p>
            <a:pPr marL="857250" lvl="1" indent="-457200"/>
            <a:r>
              <a:rPr lang="ru-RU" spc="-50" dirty="0"/>
              <a:t>н</a:t>
            </a:r>
            <a:r>
              <a:rPr lang="ru-RU" spc="-50" dirty="0" smtClean="0"/>
              <a:t>айти множество наибольшей </a:t>
            </a:r>
            <a:r>
              <a:rPr lang="ru-RU" spc="-50" dirty="0"/>
              <a:t>мощности (длины</a:t>
            </a:r>
            <a:r>
              <a:rPr lang="ru-RU" spc="-50" dirty="0" smtClean="0"/>
              <a:t>);</a:t>
            </a:r>
          </a:p>
          <a:p>
            <a:pPr marL="857250" lvl="1" indent="-457200"/>
            <a:r>
              <a:rPr lang="ru-RU" spc="-50" dirty="0" smtClean="0"/>
              <a:t>найти множество наименьшей мощности (длины)</a:t>
            </a:r>
          </a:p>
        </p:txBody>
      </p:sp>
    </p:spTree>
    <p:extLst>
      <p:ext uri="{BB962C8B-B14F-4D97-AF65-F5344CB8AC3E}">
        <p14:creationId xmlns:p14="http://schemas.microsoft.com/office/powerpoint/2010/main" val="4226289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Задание на</a:t>
            </a:r>
            <a:r>
              <a:rPr lang="en-US" dirty="0" smtClean="0"/>
              <a:t> </a:t>
            </a:r>
            <a:r>
              <a:rPr lang="ru-RU" dirty="0" smtClean="0"/>
              <a:t>множества</a:t>
            </a:r>
            <a:r>
              <a:rPr lang="ru-RU" dirty="0"/>
              <a:t>:</a:t>
            </a:r>
            <a:r>
              <a:rPr lang="ru-RU" dirty="0" smtClean="0"/>
              <a:t> алгоритм	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19256" cy="499715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 smtClean="0"/>
              <a:t>Алгоритм программного решения сводится к перебору интервала числовой оси, вдвое или более максимального элемента заданных множеств и проверке </a:t>
            </a:r>
            <a:r>
              <a:rPr lang="ru-RU" b="1" u="sng" dirty="0" smtClean="0"/>
              <a:t>ложности</a:t>
            </a:r>
            <a:r>
              <a:rPr lang="ru-RU" dirty="0" smtClean="0"/>
              <a:t> критерия задачи.</a:t>
            </a:r>
          </a:p>
          <a:p>
            <a:pPr marL="0" indent="0">
              <a:buNone/>
            </a:pPr>
            <a:r>
              <a:rPr lang="ru-RU" dirty="0" smtClean="0"/>
              <a:t>Ложность критерия означает, что нужно удалить "лишний" элемент в множестве максимальной мощности или добавить рассматриваемое значение в множество минимальной мощности.</a:t>
            </a:r>
          </a:p>
          <a:p>
            <a:pPr marL="0" indent="0">
              <a:buNone/>
            </a:pPr>
            <a:r>
              <a:rPr lang="ru-RU" dirty="0" smtClean="0"/>
              <a:t>Искомое множество изначально задано интервалом рассмотрения (для множества </a:t>
            </a:r>
            <a:r>
              <a:rPr lang="en-US" dirty="0" smtClean="0"/>
              <a:t>max </a:t>
            </a:r>
            <a:r>
              <a:rPr lang="ru-RU" dirty="0" smtClean="0"/>
              <a:t>длины) или пусто (</a:t>
            </a:r>
            <a:r>
              <a:rPr lang="ru-RU" dirty="0"/>
              <a:t>для множества </a:t>
            </a:r>
            <a:r>
              <a:rPr lang="en-US" dirty="0" smtClean="0"/>
              <a:t>min </a:t>
            </a:r>
            <a:r>
              <a:rPr lang="ru-RU" dirty="0"/>
              <a:t>длины</a:t>
            </a:r>
            <a:r>
              <a:rPr lang="ru-RU" dirty="0" smtClean="0"/>
              <a:t>)</a:t>
            </a:r>
            <a:r>
              <a:rPr lang="en-US" dirty="0" smtClean="0"/>
              <a:t>.</a:t>
            </a:r>
            <a:r>
              <a:rPr lang="ru-RU" dirty="0" smtClean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В ответе полезно дополнительно вывести найденное множество.</a:t>
            </a:r>
          </a:p>
        </p:txBody>
      </p:sp>
    </p:spTree>
    <p:extLst>
      <p:ext uri="{BB962C8B-B14F-4D97-AF65-F5344CB8AC3E}">
        <p14:creationId xmlns:p14="http://schemas.microsoft.com/office/powerpoint/2010/main" val="411832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Задание на множества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0000FF"/>
                </a:solidFill>
              </a:rPr>
              <a:t>Пример </a:t>
            </a:r>
            <a:r>
              <a:rPr lang="ru-RU" dirty="0"/>
              <a:t>задачи </a:t>
            </a:r>
            <a:r>
              <a:rPr lang="ru-RU" dirty="0">
                <a:solidFill>
                  <a:srgbClr val="0000FF"/>
                </a:solidFill>
              </a:rPr>
              <a:t>№ </a:t>
            </a:r>
            <a:r>
              <a:rPr lang="ru-RU" dirty="0" smtClean="0">
                <a:solidFill>
                  <a:srgbClr val="0000FF"/>
                </a:solidFill>
              </a:rPr>
              <a:t>3</a:t>
            </a:r>
            <a:r>
              <a:rPr lang="ru-RU" dirty="0" smtClean="0"/>
              <a:t>:</a:t>
            </a:r>
            <a:endParaRPr lang="ru-RU" dirty="0"/>
          </a:p>
          <a:p>
            <a:pPr marL="400050" lvl="1" indent="0">
              <a:buNone/>
            </a:pPr>
            <a:r>
              <a:rPr lang="ru-RU" dirty="0"/>
              <a:t>(№ 4872) Элементами множеств А, P и Q являются натуральные числа, причём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P </a:t>
            </a:r>
            <a:r>
              <a:rPr lang="ru-RU" dirty="0"/>
              <a:t>= { 2, 4, 6, 8, 10, 12, 14, 16, 18, 20} и </a:t>
            </a:r>
          </a:p>
          <a:p>
            <a:pPr marL="400050" lvl="1" indent="0">
              <a:buNone/>
            </a:pPr>
            <a:r>
              <a:rPr lang="ru-RU" dirty="0"/>
              <a:t>Q = { 5, 10, 15, 20, 25, 30, 35, 40, 45, 50}.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Известно</a:t>
            </a:r>
            <a:r>
              <a:rPr lang="ru-RU" dirty="0"/>
              <a:t>, что выражение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((</a:t>
            </a:r>
            <a:r>
              <a:rPr lang="ru-RU" dirty="0"/>
              <a:t>x ∈ A) → (x ∈ P)) ∧ ((x ∈ Q) → ¬(x ∈ A))</a:t>
            </a:r>
          </a:p>
          <a:p>
            <a:pPr marL="400050" lvl="1" indent="0">
              <a:buNone/>
            </a:pPr>
            <a:r>
              <a:rPr lang="ru-RU" dirty="0"/>
              <a:t>истинно (т. е. принимает значение 1) при любом значении переменной х. Определите </a:t>
            </a:r>
            <a:r>
              <a:rPr lang="ru-RU" b="1" dirty="0">
                <a:solidFill>
                  <a:srgbClr val="00B050"/>
                </a:solidFill>
              </a:rPr>
              <a:t>наибольшее</a:t>
            </a:r>
            <a:r>
              <a:rPr lang="ru-RU" dirty="0"/>
              <a:t> возможное количество элементов множества A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2018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Шаблон №3 программы решения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 =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{…};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Q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 {…}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{x for x in range(1,…)}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 x in range(1,…):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if (  )==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= A – {x} 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(A), '&lt;-',A) 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814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</a:t>
            </a:r>
            <a:r>
              <a:rPr lang="en-US" dirty="0"/>
              <a:t>3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 = { 2, 4, 6, 8, 10, 12, 14, 16, 18, 20}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Q = { 5, 10, 15, 20, 25, 30, 35, 40, 45,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A={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for x in range(1,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in range(1,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24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()==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A=A-{x}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(A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),'# &lt;-',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39628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</a:t>
            </a:r>
            <a:r>
              <a:rPr lang="en-US" dirty="0"/>
              <a:t>3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 = { 2, 4, 6, 8, 10, 12, 14, 16, 18, 20}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Q = { 5, 10, 15, 20, 25, 30, 35, 40, 45, 50}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A={x for x in range(1,100)}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x in range(1,100):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pt-BR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pt-BR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∈</a:t>
            </a:r>
            <a:r>
              <a:rPr lang="pt-BR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A) </a:t>
            </a:r>
            <a:r>
              <a:rPr lang="pt-BR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→</a:t>
            </a:r>
            <a:r>
              <a:rPr lang="pt-BR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 </a:t>
            </a:r>
            <a:r>
              <a:rPr lang="pt-BR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∈</a:t>
            </a:r>
            <a:r>
              <a:rPr lang="pt-BR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P)) ∧ </a:t>
            </a:r>
            <a:r>
              <a:rPr lang="pt-BR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</a:p>
          <a:p>
            <a:pPr marL="0" indent="0">
              <a:buNone/>
            </a:pP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((</a:t>
            </a: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pt-BR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∈</a:t>
            </a:r>
            <a:r>
              <a:rPr lang="pt-BR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Q) </a:t>
            </a:r>
            <a:r>
              <a:rPr lang="pt-BR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→</a:t>
            </a:r>
            <a:r>
              <a:rPr lang="pt-BR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¬</a:t>
            </a: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 </a:t>
            </a:r>
            <a:r>
              <a:rPr lang="pt-BR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∈</a:t>
            </a:r>
            <a:r>
              <a:rPr lang="pt-BR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A))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)==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False: 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A=A-{x}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(A),'# &lt;-', A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014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</a:t>
            </a:r>
            <a:r>
              <a:rPr lang="en-US" dirty="0"/>
              <a:t>3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47091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 = { 2, 4, 6, 8, 10, 12, 14, 16, 18, 20}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Q = { 5, 10, 15, 20, 25, 30, 35, 40, 45, 50}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A={x for x in range(1,100)}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x in range(1,100):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 ((x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A)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(x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P)) and \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((x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Q)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A)) )==False: 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A=A-{x}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(A),'    # -&gt;  ', A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52384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</a:t>
            </a:r>
            <a:r>
              <a:rPr lang="en-US" dirty="0"/>
              <a:t>3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 = { 2, 4, 6, 8, 10, 12, 14, 16, 18, 20}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Q = { 5, 10, 15, 20, 25, 30, 35, 40, 45, 50}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A={x for x in range(1,100)}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x in range(1,100):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 ((x in A) &lt;= (x in P)) and \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((x in Q) &lt;= (x not in A)) )==False: 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A=A-{x}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(A),'    # -&gt;  ', A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Ответ: </a:t>
            </a:r>
            <a:r>
              <a:rPr lang="ru-RU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     </a:t>
            </a:r>
            <a:r>
              <a:rPr lang="ru-RU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-&gt;   {2, 4, 6, 8, 12, 14, 16, 18}</a:t>
            </a:r>
          </a:p>
        </p:txBody>
      </p:sp>
    </p:spTree>
    <p:extLst>
      <p:ext uri="{BB962C8B-B14F-4D97-AF65-F5344CB8AC3E}">
        <p14:creationId xmlns:p14="http://schemas.microsoft.com/office/powerpoint/2010/main" val="3914245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Задание на множества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0000FF"/>
                </a:solidFill>
              </a:rPr>
              <a:t>Пример </a:t>
            </a:r>
            <a:r>
              <a:rPr lang="ru-RU" dirty="0"/>
              <a:t>задачи </a:t>
            </a:r>
            <a:r>
              <a:rPr lang="ru-RU" dirty="0">
                <a:solidFill>
                  <a:srgbClr val="0000FF"/>
                </a:solidFill>
              </a:rPr>
              <a:t>№ </a:t>
            </a:r>
            <a:r>
              <a:rPr lang="en-US" dirty="0" smtClean="0">
                <a:solidFill>
                  <a:srgbClr val="0000FF"/>
                </a:solidFill>
              </a:rPr>
              <a:t>4</a:t>
            </a:r>
            <a:r>
              <a:rPr lang="ru-RU" dirty="0" smtClean="0"/>
              <a:t>:</a:t>
            </a:r>
            <a:endParaRPr lang="ru-RU" dirty="0"/>
          </a:p>
          <a:p>
            <a:pPr marL="400050" lvl="1" indent="0">
              <a:buNone/>
            </a:pPr>
            <a:r>
              <a:rPr lang="ru-RU" dirty="0"/>
              <a:t>(№ 4882) Элементами множеств А, P и Q являются натуральные числа, причём P = { 1, 2, 3, 4 } и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Q </a:t>
            </a:r>
            <a:r>
              <a:rPr lang="ru-RU" dirty="0"/>
              <a:t>= { 1, 2, 3, 4, 5, 6 }. Известно, что выражение</a:t>
            </a:r>
          </a:p>
          <a:p>
            <a:pPr marL="400050" lvl="1" indent="0">
              <a:buNone/>
            </a:pPr>
            <a:r>
              <a:rPr lang="ru-RU" dirty="0"/>
              <a:t>¬(x ∈ A) → </a:t>
            </a:r>
            <a:r>
              <a:rPr lang="ru-RU" dirty="0" smtClean="0"/>
              <a:t>¬(</a:t>
            </a:r>
            <a:r>
              <a:rPr lang="ru-RU" dirty="0"/>
              <a:t>x ∈ P) ∨ ¬(x ∈ Q</a:t>
            </a:r>
            <a:r>
              <a:rPr lang="ru-RU" dirty="0" smtClean="0"/>
              <a:t>)</a:t>
            </a:r>
            <a:endParaRPr lang="ru-RU" dirty="0"/>
          </a:p>
          <a:p>
            <a:pPr marL="400050" lvl="1" indent="0">
              <a:buNone/>
            </a:pPr>
            <a:r>
              <a:rPr lang="ru-RU" dirty="0" smtClean="0"/>
              <a:t>истинно </a:t>
            </a:r>
            <a:r>
              <a:rPr lang="ru-RU" dirty="0"/>
              <a:t>(т. е. принимает значение 1) при любом значении переменной х.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Определите </a:t>
            </a:r>
            <a:r>
              <a:rPr lang="ru-RU" dirty="0">
                <a:solidFill>
                  <a:srgbClr val="00B050"/>
                </a:solidFill>
              </a:rPr>
              <a:t>наименьшее</a:t>
            </a:r>
            <a:r>
              <a:rPr lang="ru-RU" dirty="0"/>
              <a:t> возможное количество элементов множества A.</a:t>
            </a:r>
          </a:p>
        </p:txBody>
      </p:sp>
    </p:spTree>
    <p:extLst>
      <p:ext uri="{BB962C8B-B14F-4D97-AF65-F5344CB8AC3E}">
        <p14:creationId xmlns:p14="http://schemas.microsoft.com/office/powerpoint/2010/main" val="1642587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Шаблон №</a:t>
            </a:r>
            <a:r>
              <a:rPr lang="en-US" dirty="0" smtClean="0"/>
              <a:t>4</a:t>
            </a:r>
            <a:r>
              <a:rPr lang="ru-RU" dirty="0" smtClean="0"/>
              <a:t> программы решения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 =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{…};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Q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 {…}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set()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 x in range(1,…):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if (  )==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= A | {x} 	#</a:t>
            </a:r>
            <a:r>
              <a:rPr lang="ru-RU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или </a:t>
            </a:r>
            <a:r>
              <a:rPr lang="en-US" sz="2400" b="1" dirty="0" err="1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A.add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 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(A), '&lt;-',A) 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645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</a:t>
            </a:r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 = { 1, 2, 3, 4 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Q = { 1, 2, 3, 4, 5,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= set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in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range(1,</a:t>
            </a:r>
            <a:r>
              <a:rPr lang="en-US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24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()==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A=A|{x}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(A),'# &lt;-', A)</a:t>
            </a:r>
          </a:p>
        </p:txBody>
      </p:sp>
    </p:spTree>
    <p:extLst>
      <p:ext uri="{BB962C8B-B14F-4D97-AF65-F5344CB8AC3E}">
        <p14:creationId xmlns:p14="http://schemas.microsoft.com/office/powerpoint/2010/main" val="450191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№4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 = { 1, 2, 3, 4 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Q = { 1, 2, 3, 4, 5, 6 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 = set()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x in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range(1,20):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if (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¬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∈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A)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→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¬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∈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P)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∨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¬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∈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Q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== False: 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A = A|{x}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(A), '# &lt;-', A)</a:t>
            </a:r>
          </a:p>
        </p:txBody>
      </p:sp>
    </p:spTree>
    <p:extLst>
      <p:ext uri="{BB962C8B-B14F-4D97-AF65-F5344CB8AC3E}">
        <p14:creationId xmlns:p14="http://schemas.microsoft.com/office/powerpoint/2010/main" val="359174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№4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 = { 1, 2, 3, 4 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Q = { 1, 2, 3, 4, 5, 6 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 = set()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x in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range(1,20):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if ( </a:t>
            </a:r>
            <a:r>
              <a:rPr lang="en-US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¬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∈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A)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→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(¬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∈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P)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∨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¬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∈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Q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== False: 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A = A|{x}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ОБЯЗАТЕЛЬНО добавить </a:t>
            </a:r>
            <a:r>
              <a:rPr lang="ru-RU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скобки</a:t>
            </a:r>
            <a:r>
              <a:rPr lang="ru-RU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endParaRPr lang="en-US" sz="2400" b="1" dirty="0" smtClean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(A), '# &lt;-', A)</a:t>
            </a:r>
          </a:p>
        </p:txBody>
      </p:sp>
    </p:spTree>
    <p:extLst>
      <p:ext uri="{BB962C8B-B14F-4D97-AF65-F5344CB8AC3E}">
        <p14:creationId xmlns:p14="http://schemas.microsoft.com/office/powerpoint/2010/main" val="4100404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№4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 = { 1, 2, 3, 4 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Q = { 1, 2, 3, 4, 5, 6 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 = set()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x in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range(1,20):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if (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A) 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Q)</a:t>
            </a:r>
            <a:r>
              <a:rPr lang="en-US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== False: 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A = A|{x}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ОБЯЗАТЕЛЬНО добавить </a:t>
            </a:r>
            <a:r>
              <a:rPr lang="ru-RU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скобки</a:t>
            </a:r>
            <a:r>
              <a:rPr lang="ru-RU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endParaRPr lang="en-US" sz="2400" b="1" dirty="0" smtClean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(A), '# &lt;-', A)</a:t>
            </a:r>
          </a:p>
        </p:txBody>
      </p:sp>
    </p:spTree>
    <p:extLst>
      <p:ext uri="{BB962C8B-B14F-4D97-AF65-F5344CB8AC3E}">
        <p14:creationId xmlns:p14="http://schemas.microsoft.com/office/powerpoint/2010/main" val="2354270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№4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 = { 1, 2, 3, 4 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Q = { 1, 2, 3, 4, 5, 6 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 = set()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x 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in </a:t>
            </a:r>
            <a:r>
              <a:rPr lang="en-US" sz="240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range(1,20):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if (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not in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A)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&lt;=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not in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or 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not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Q))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== False: 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A = A|{x}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&lt;-',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Ответ: </a:t>
            </a:r>
            <a:r>
              <a:rPr lang="ru-RU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</a:t>
            </a:r>
            <a:r>
              <a:rPr lang="en-US" sz="24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24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&lt;- </a:t>
            </a:r>
            <a:r>
              <a:rPr lang="ru-RU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{1, 2, 3, 4}</a:t>
            </a:r>
          </a:p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270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Делимость, поразрядная конъюнкция и координатная плоскость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2 подхода к решению: </a:t>
            </a:r>
          </a:p>
          <a:p>
            <a:pPr marL="857250" lvl="1" indent="-457200"/>
            <a:r>
              <a:rPr lang="ru-RU" dirty="0" smtClean="0"/>
              <a:t>аналитический – на основе применения законов логики для минимизации критерия истинности;</a:t>
            </a:r>
          </a:p>
          <a:p>
            <a:pPr marL="857250" lvl="1" indent="-457200"/>
            <a:r>
              <a:rPr lang="ru-RU" dirty="0" smtClean="0"/>
              <a:t>компьютерный перебор при помощи программы.</a:t>
            </a:r>
          </a:p>
          <a:p>
            <a:pPr marL="0" indent="0">
              <a:buNone/>
            </a:pPr>
            <a:r>
              <a:rPr lang="ru-RU" dirty="0" smtClean="0"/>
              <a:t>2 типа заданий: </a:t>
            </a:r>
          </a:p>
          <a:p>
            <a:pPr marL="857250" lvl="1" indent="-457200"/>
            <a:r>
              <a:rPr lang="ru-RU" spc="-50" dirty="0"/>
              <a:t>н</a:t>
            </a:r>
            <a:r>
              <a:rPr lang="ru-RU" spc="-50" dirty="0" smtClean="0"/>
              <a:t>айти наибольшее значение параметра;</a:t>
            </a:r>
          </a:p>
          <a:p>
            <a:pPr marL="857250" lvl="1" indent="-457200"/>
            <a:r>
              <a:rPr lang="ru-RU" spc="-50" dirty="0" smtClean="0"/>
              <a:t>найти наименьшее </a:t>
            </a:r>
            <a:r>
              <a:rPr lang="ru-RU" spc="-50" dirty="0"/>
              <a:t>значение </a:t>
            </a:r>
            <a:r>
              <a:rPr lang="ru-RU" spc="-50" dirty="0" smtClean="0"/>
              <a:t>параметра.</a:t>
            </a:r>
          </a:p>
        </p:txBody>
      </p:sp>
    </p:spTree>
    <p:extLst>
      <p:ext uri="{BB962C8B-B14F-4D97-AF65-F5344CB8AC3E}">
        <p14:creationId xmlns:p14="http://schemas.microsoft.com/office/powerpoint/2010/main" val="3581823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Обобщенный алгоритм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9971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smtClean="0"/>
              <a:t>Алгоритм программного решения сводится к перебору </a:t>
            </a:r>
            <a:r>
              <a:rPr lang="ru-RU" i="1" dirty="0" smtClean="0">
                <a:solidFill>
                  <a:srgbClr val="00B050"/>
                </a:solidFill>
              </a:rPr>
              <a:t>интервала значений параметра</a:t>
            </a:r>
            <a:r>
              <a:rPr lang="ru-RU" dirty="0" smtClean="0">
                <a:solidFill>
                  <a:srgbClr val="00B050"/>
                </a:solidFill>
              </a:rPr>
              <a:t> </a:t>
            </a:r>
            <a:r>
              <a:rPr lang="ru-RU" dirty="0" smtClean="0"/>
              <a:t>вдвое или более максимального из заданных чисел и проверке </a:t>
            </a:r>
            <a:r>
              <a:rPr lang="ru-RU" b="1" u="sng" dirty="0" smtClean="0"/>
              <a:t>истинности</a:t>
            </a:r>
            <a:r>
              <a:rPr lang="ru-RU" dirty="0" smtClean="0"/>
              <a:t> критерия задачи на таком же </a:t>
            </a:r>
            <a:r>
              <a:rPr lang="ru-RU" i="1" dirty="0" smtClean="0">
                <a:solidFill>
                  <a:srgbClr val="00B050"/>
                </a:solidFill>
              </a:rPr>
              <a:t>интервале независимой переменной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 smtClean="0"/>
              <a:t>Поиск наибольшего значения ведется </a:t>
            </a:r>
            <a:r>
              <a:rPr lang="ru-RU" dirty="0"/>
              <a:t>на </a:t>
            </a:r>
            <a:r>
              <a:rPr lang="ru-RU" dirty="0" smtClean="0"/>
              <a:t>убывающем интервале числовой оси, наименьшего – </a:t>
            </a:r>
            <a:r>
              <a:rPr lang="ru-RU" dirty="0"/>
              <a:t>на </a:t>
            </a:r>
            <a:r>
              <a:rPr lang="ru-RU" dirty="0" smtClean="0"/>
              <a:t>возрастающем.</a:t>
            </a:r>
          </a:p>
          <a:p>
            <a:pPr marL="0" indent="0">
              <a:buNone/>
            </a:pPr>
            <a:r>
              <a:rPr lang="ru-RU" dirty="0" smtClean="0"/>
              <a:t>Первое найденное значение, соответствующее истинному критерию будет решением задачи</a:t>
            </a:r>
            <a:r>
              <a:rPr lang="ru-RU" dirty="0"/>
              <a:t>, </a:t>
            </a:r>
            <a:r>
              <a:rPr lang="ru-RU" dirty="0" smtClean="0"/>
              <a:t>и цикл перебора можно остановить.</a:t>
            </a:r>
          </a:p>
        </p:txBody>
      </p:sp>
    </p:spTree>
    <p:extLst>
      <p:ext uri="{BB962C8B-B14F-4D97-AF65-F5344CB8AC3E}">
        <p14:creationId xmlns:p14="http://schemas.microsoft.com/office/powerpoint/2010/main" val="171119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Задание на делимость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0000FF"/>
                </a:solidFill>
              </a:rPr>
              <a:t>Пример </a:t>
            </a:r>
            <a:r>
              <a:rPr lang="ru-RU" dirty="0"/>
              <a:t>задачи </a:t>
            </a:r>
            <a:r>
              <a:rPr lang="ru-RU" dirty="0">
                <a:solidFill>
                  <a:srgbClr val="0000FF"/>
                </a:solidFill>
              </a:rPr>
              <a:t>№ </a:t>
            </a:r>
            <a:r>
              <a:rPr lang="ru-RU" dirty="0" smtClean="0">
                <a:solidFill>
                  <a:srgbClr val="0000FF"/>
                </a:solidFill>
              </a:rPr>
              <a:t>5</a:t>
            </a:r>
            <a:r>
              <a:rPr lang="ru-RU" dirty="0" smtClean="0"/>
              <a:t>:</a:t>
            </a:r>
            <a:endParaRPr lang="ru-RU" dirty="0"/>
          </a:p>
          <a:p>
            <a:pPr marL="400050" lvl="1" indent="0">
              <a:buNone/>
            </a:pPr>
            <a:r>
              <a:rPr lang="ru-RU" sz="2600" dirty="0"/>
              <a:t>(№ 2251) Обозначим через ДЕЛ(n, m) утверждение «</a:t>
            </a:r>
            <a:r>
              <a:rPr lang="ru-RU" sz="2600" dirty="0">
                <a:solidFill>
                  <a:srgbClr val="00B0F0"/>
                </a:solidFill>
              </a:rPr>
              <a:t>натуральное</a:t>
            </a:r>
            <a:r>
              <a:rPr lang="ru-RU" sz="2600" dirty="0"/>
              <a:t> число n делится без остатка на натуральное число m». </a:t>
            </a:r>
            <a:endParaRPr lang="en-US" sz="2600" dirty="0" smtClean="0"/>
          </a:p>
          <a:p>
            <a:pPr marL="400050" lvl="1" indent="0">
              <a:buNone/>
            </a:pPr>
            <a:r>
              <a:rPr lang="ru-RU" sz="2600" dirty="0" smtClean="0"/>
              <a:t>Для </a:t>
            </a:r>
            <a:r>
              <a:rPr lang="ru-RU" sz="2600" dirty="0"/>
              <a:t>какого </a:t>
            </a:r>
            <a:r>
              <a:rPr lang="ru-RU" sz="2600" dirty="0">
                <a:solidFill>
                  <a:srgbClr val="00B050"/>
                </a:solidFill>
              </a:rPr>
              <a:t>наименьшего</a:t>
            </a:r>
            <a:r>
              <a:rPr lang="ru-RU" sz="2600" dirty="0"/>
              <a:t> натурального числа А формула</a:t>
            </a:r>
          </a:p>
          <a:p>
            <a:pPr marL="400050" lvl="1" indent="0">
              <a:buNone/>
            </a:pPr>
            <a:r>
              <a:rPr lang="ru-RU" sz="2600" dirty="0"/>
              <a:t>ДЕЛ(x, A) → </a:t>
            </a:r>
            <a:r>
              <a:rPr lang="ru-RU" sz="2600" dirty="0" smtClean="0"/>
              <a:t>ДЕЛ(x</a:t>
            </a:r>
            <a:r>
              <a:rPr lang="ru-RU" sz="2600" dirty="0"/>
              <a:t>, 14) ∧ ДЕЛ(x, </a:t>
            </a:r>
            <a:r>
              <a:rPr lang="ru-RU" sz="2600" dirty="0">
                <a:solidFill>
                  <a:srgbClr val="FF0000"/>
                </a:solidFill>
              </a:rPr>
              <a:t>21</a:t>
            </a:r>
            <a:r>
              <a:rPr lang="ru-RU" sz="2600" dirty="0" smtClean="0"/>
              <a:t>)</a:t>
            </a:r>
            <a:endParaRPr lang="ru-RU" sz="2600" dirty="0"/>
          </a:p>
          <a:p>
            <a:pPr marL="400050" lvl="1" indent="0">
              <a:buNone/>
            </a:pPr>
            <a:r>
              <a:rPr lang="ru-RU" sz="2600" dirty="0" smtClean="0"/>
              <a:t>тождественно </a:t>
            </a:r>
            <a:r>
              <a:rPr lang="ru-RU" sz="2600" dirty="0"/>
              <a:t>истинна (то есть принимает значение 1 при любом натуральном значении переменной х)?</a:t>
            </a:r>
          </a:p>
        </p:txBody>
      </p:sp>
    </p:spTree>
    <p:extLst>
      <p:ext uri="{BB962C8B-B14F-4D97-AF65-F5344CB8AC3E}">
        <p14:creationId xmlns:p14="http://schemas.microsoft.com/office/powerpoint/2010/main" val="3960514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Шаблон №5 программы решения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 A in 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range(…,…)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 = all( ( … ) for x in </a:t>
            </a:r>
            <a:r>
              <a:rPr lang="en-US" sz="2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lang="en-US" sz="2400" b="1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(…,…)</a:t>
            </a:r>
            <a:r>
              <a:rPr lang="en-US" sz="2400" smtClean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if f: print(A); break 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729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</a:t>
            </a:r>
            <a:r>
              <a:rPr lang="en-US" dirty="0" smtClean="0"/>
              <a:t>5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A in 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range(</a:t>
            </a:r>
            <a:r>
              <a:rPr lang="en-US" sz="2400" b="1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f = all(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ДЕЛ(x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A) →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ДЕЛ(x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14) ∧ ДЕЛ(x, 21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for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in 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range(</a:t>
            </a:r>
            <a:r>
              <a:rPr lang="en-US" sz="2400" b="1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if f: print(A); break </a:t>
            </a:r>
            <a:endParaRPr 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Важно</a:t>
            </a:r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b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Интервалы рассмотрения значений </a:t>
            </a:r>
            <a:r>
              <a:rPr lang="ru-RU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возрастающие!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2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</a:t>
            </a:r>
            <a:r>
              <a:rPr lang="en-US" dirty="0" smtClean="0"/>
              <a:t>5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A in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range(1,50):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f = all(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ru-RU" sz="24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ДЕЛ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A) →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ДЕЛ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14) ∧ </a:t>
            </a:r>
            <a:r>
              <a:rPr lang="ru-RU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ДЕЛ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(x, 21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for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in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range(1,50))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ОБЯЗАТЕЛЬНО добавить </a:t>
            </a:r>
            <a:r>
              <a:rPr lang="ru-RU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скобки</a:t>
            </a:r>
            <a:r>
              <a:rPr lang="ru-RU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endParaRPr lang="en-US" sz="24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if f: print(A);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</a:p>
          <a:p>
            <a:pPr marL="0" indent="0">
              <a:buNone/>
            </a:pPr>
            <a:endParaRPr 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Заменим</a:t>
            </a:r>
            <a:endParaRPr lang="en-US" sz="2400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ДЕЛ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(x, A)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 (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2400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0)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¬</a:t>
            </a:r>
            <a:r>
              <a:rPr lang="ru-RU" sz="24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ДЕЛ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(x, A) ----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 (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0)</a:t>
            </a:r>
          </a:p>
          <a:p>
            <a:pPr marL="0" indent="0">
              <a:buNone/>
            </a:pP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748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</a:t>
            </a:r>
            <a:r>
              <a:rPr lang="en-US" dirty="0" smtClean="0"/>
              <a:t>5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A in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range(1,50):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f = all(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2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→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2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∧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2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for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in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range(1,50))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ОБЯЗАТЕЛЬНО добавить </a:t>
            </a:r>
            <a:r>
              <a:rPr lang="ru-RU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скобки</a:t>
            </a:r>
            <a:r>
              <a:rPr lang="ru-RU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endParaRPr lang="en-US" sz="24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if f: print(A);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</a:p>
          <a:p>
            <a:pPr marL="0" indent="0">
              <a:buNone/>
            </a:pP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383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</a:t>
            </a:r>
            <a:r>
              <a:rPr lang="en-US" dirty="0" smtClean="0"/>
              <a:t>5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A in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range(1,50):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f = all(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== 0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== 0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(x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== 0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) \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for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in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range(1,50))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ОБЯЗАТЕЛЬНО добавить </a:t>
            </a:r>
            <a:r>
              <a:rPr lang="ru-RU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скобки</a:t>
            </a:r>
            <a:r>
              <a:rPr lang="ru-RU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endParaRPr lang="en-US" sz="24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if f: print(A);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</a:p>
          <a:p>
            <a:pPr marL="0" indent="0">
              <a:buNone/>
            </a:pP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13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</a:t>
            </a:r>
            <a:r>
              <a:rPr lang="en-US" dirty="0" smtClean="0"/>
              <a:t>5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A in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range(1,50):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f = all(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== 0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(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(x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== 0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(x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== 0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) \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for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in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range(1,50))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if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f: print(A);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Ответ: </a:t>
            </a:r>
            <a:r>
              <a:rPr lang="ru-RU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42</a:t>
            </a:r>
            <a:endParaRPr lang="en-US" sz="2400" b="1" dirty="0" smtClean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600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394" y="260648"/>
            <a:ext cx="9114606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Задание на поразрядную конъюнкцию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0000FF"/>
                </a:solidFill>
              </a:rPr>
              <a:t>Пример </a:t>
            </a:r>
            <a:r>
              <a:rPr lang="ru-RU" dirty="0"/>
              <a:t>задачи </a:t>
            </a:r>
            <a:r>
              <a:rPr lang="ru-RU" dirty="0">
                <a:solidFill>
                  <a:srgbClr val="0000FF"/>
                </a:solidFill>
              </a:rPr>
              <a:t>№ </a:t>
            </a:r>
            <a:r>
              <a:rPr lang="ru-RU" dirty="0" smtClean="0">
                <a:solidFill>
                  <a:srgbClr val="0000FF"/>
                </a:solidFill>
              </a:rPr>
              <a:t>6</a:t>
            </a:r>
            <a:r>
              <a:rPr lang="ru-RU" dirty="0" smtClean="0"/>
              <a:t>:</a:t>
            </a:r>
            <a:endParaRPr lang="ru-RU" dirty="0"/>
          </a:p>
          <a:p>
            <a:pPr marL="400050" lvl="1" indent="0">
              <a:buNone/>
            </a:pPr>
            <a:r>
              <a:rPr lang="ru-RU" sz="2600" dirty="0"/>
              <a:t>(№ </a:t>
            </a:r>
            <a:r>
              <a:rPr lang="ru-RU" sz="2600" dirty="0" smtClean="0"/>
              <a:t>13602 </a:t>
            </a:r>
            <a:r>
              <a:rPr lang="ru-RU" sz="2600" dirty="0" err="1" smtClean="0"/>
              <a:t>РешуЕГЭ</a:t>
            </a:r>
            <a:r>
              <a:rPr lang="ru-RU" sz="2600" dirty="0" smtClean="0"/>
              <a:t>) </a:t>
            </a:r>
            <a:r>
              <a:rPr lang="ru-RU" sz="2600" dirty="0"/>
              <a:t>Обозначим через </a:t>
            </a:r>
            <a:r>
              <a:rPr lang="ru-RU" sz="2600" dirty="0" err="1"/>
              <a:t>m&amp;n</a:t>
            </a:r>
            <a:r>
              <a:rPr lang="ru-RU" sz="2600" dirty="0"/>
              <a:t> поразрядную конъюнкцию неотрицательных целых чисел m и n</a:t>
            </a:r>
            <a:r>
              <a:rPr lang="ru-RU" sz="2600" dirty="0" smtClean="0"/>
              <a:t>.</a:t>
            </a:r>
            <a:endParaRPr lang="ru-RU" sz="2600" dirty="0"/>
          </a:p>
          <a:p>
            <a:pPr marL="400050" lvl="1" indent="0">
              <a:buNone/>
            </a:pPr>
            <a:r>
              <a:rPr lang="ru-RU" sz="2600" dirty="0"/>
              <a:t>Например, </a:t>
            </a:r>
            <a:r>
              <a:rPr lang="ru-RU" sz="2600" dirty="0" smtClean="0"/>
              <a:t>14 &amp; 5 </a:t>
            </a:r>
            <a:r>
              <a:rPr lang="ru-RU" sz="2600" dirty="0"/>
              <a:t>= </a:t>
            </a:r>
            <a:r>
              <a:rPr lang="ru-RU" sz="2600" dirty="0" smtClean="0"/>
              <a:t>1110</a:t>
            </a:r>
            <a:r>
              <a:rPr lang="ru-RU" sz="2600" baseline="-25000" dirty="0" smtClean="0"/>
              <a:t>2 </a:t>
            </a:r>
            <a:r>
              <a:rPr lang="ru-RU" sz="2600" dirty="0" smtClean="0"/>
              <a:t>&amp; 0101</a:t>
            </a:r>
            <a:r>
              <a:rPr lang="ru-RU" sz="2600" baseline="-25000" dirty="0" smtClean="0"/>
              <a:t>2</a:t>
            </a:r>
            <a:r>
              <a:rPr lang="ru-RU" sz="2600" dirty="0" smtClean="0"/>
              <a:t> </a:t>
            </a:r>
            <a:r>
              <a:rPr lang="ru-RU" sz="2600" dirty="0"/>
              <a:t>= 0100</a:t>
            </a:r>
            <a:r>
              <a:rPr lang="ru-RU" sz="2600" baseline="-25000" dirty="0"/>
              <a:t>2</a:t>
            </a:r>
            <a:r>
              <a:rPr lang="ru-RU" sz="2600" dirty="0"/>
              <a:t> = 4.</a:t>
            </a:r>
          </a:p>
          <a:p>
            <a:pPr marL="400050" lvl="1" indent="0">
              <a:buNone/>
            </a:pPr>
            <a:r>
              <a:rPr lang="ru-RU" sz="2600" dirty="0" smtClean="0"/>
              <a:t>Для </a:t>
            </a:r>
            <a:r>
              <a:rPr lang="ru-RU" sz="2600" dirty="0"/>
              <a:t>какого </a:t>
            </a:r>
            <a:r>
              <a:rPr lang="ru-RU" sz="2600" dirty="0">
                <a:solidFill>
                  <a:srgbClr val="00B050"/>
                </a:solidFill>
              </a:rPr>
              <a:t>наименьшего</a:t>
            </a:r>
            <a:r>
              <a:rPr lang="ru-RU" sz="2600" dirty="0"/>
              <a:t> неотрицательного целого числа А формула</a:t>
            </a:r>
          </a:p>
          <a:p>
            <a:pPr marL="400050" lvl="1" indent="0">
              <a:buNone/>
            </a:pPr>
            <a:r>
              <a:rPr lang="ru-RU" sz="2600" dirty="0" err="1"/>
              <a:t>x&amp;</a:t>
            </a:r>
            <a:r>
              <a:rPr lang="ru-RU" sz="2600" b="1" dirty="0" err="1">
                <a:solidFill>
                  <a:srgbClr val="FF0000"/>
                </a:solidFill>
              </a:rPr>
              <a:t>49</a:t>
            </a:r>
            <a:r>
              <a:rPr lang="ru-RU" sz="2600" dirty="0"/>
              <a:t> ≠ 0 → (</a:t>
            </a:r>
            <a:r>
              <a:rPr lang="ru-RU" sz="2600" dirty="0" err="1"/>
              <a:t>x&amp;41</a:t>
            </a:r>
            <a:r>
              <a:rPr lang="ru-RU" sz="2600" dirty="0"/>
              <a:t> = 0 → </a:t>
            </a:r>
            <a:r>
              <a:rPr lang="ru-RU" sz="2600" dirty="0" err="1"/>
              <a:t>x&amp;А</a:t>
            </a:r>
            <a:r>
              <a:rPr lang="ru-RU" sz="2600" dirty="0"/>
              <a:t> ≠ 0</a:t>
            </a:r>
            <a:r>
              <a:rPr lang="ru-RU" sz="2600" dirty="0" smtClean="0"/>
              <a:t>)</a:t>
            </a:r>
          </a:p>
          <a:p>
            <a:pPr marL="400050" lvl="1" indent="0">
              <a:buNone/>
            </a:pPr>
            <a:r>
              <a:rPr lang="ru-RU" sz="2600" dirty="0" smtClean="0"/>
              <a:t>тождественно </a:t>
            </a:r>
            <a:r>
              <a:rPr lang="ru-RU" sz="2600" dirty="0"/>
              <a:t>истинна (то есть принимает значение 1 при любом </a:t>
            </a:r>
            <a:r>
              <a:rPr lang="ru-RU" sz="2600" dirty="0">
                <a:solidFill>
                  <a:srgbClr val="00B0F0"/>
                </a:solidFill>
              </a:rPr>
              <a:t>неотрицательном</a:t>
            </a:r>
            <a:r>
              <a:rPr lang="ru-RU" sz="2600" dirty="0"/>
              <a:t> целом значении переменной х)?</a:t>
            </a:r>
          </a:p>
        </p:txBody>
      </p:sp>
    </p:spTree>
    <p:extLst>
      <p:ext uri="{BB962C8B-B14F-4D97-AF65-F5344CB8AC3E}">
        <p14:creationId xmlns:p14="http://schemas.microsoft.com/office/powerpoint/2010/main" val="2249671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Шаблон №5 программы решения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 A in 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range(…,…)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 = all(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…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for x in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(…,…)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):  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if f: print(A); break 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483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№6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A in 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range(</a:t>
            </a:r>
            <a:r>
              <a:rPr lang="ru-RU" sz="2400" b="1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all(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x&amp;</a:t>
            </a:r>
            <a:r>
              <a:rPr lang="ru-RU" sz="2400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49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≠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→ \</a:t>
            </a:r>
          </a:p>
          <a:p>
            <a:pPr marL="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x&amp;41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→ </a:t>
            </a:r>
            <a:r>
              <a:rPr lang="ru-RU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x&amp;А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≠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\         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for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in 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range(</a:t>
            </a:r>
            <a:r>
              <a:rPr lang="ru-RU" sz="2400" b="1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if f: print(A); break </a:t>
            </a:r>
            <a:endParaRPr 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Важно</a:t>
            </a:r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b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Интервалы рассмотрения значений </a:t>
            </a:r>
            <a:r>
              <a:rPr lang="ru-RU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возрастающие!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847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</a:t>
            </a:r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A in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range(1,100):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f = all(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x&amp;49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≠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ru-RU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→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</a:p>
          <a:p>
            <a:pPr marL="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(</a:t>
            </a:r>
            <a:r>
              <a:rPr lang="ru-RU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x&amp;41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ru-RU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→ </a:t>
            </a:r>
            <a:r>
              <a:rPr lang="ru-RU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x&amp;А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≠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ru-RU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for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in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range(1,100))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ОБЯЗАТЕЛЬНО добавить </a:t>
            </a:r>
            <a:r>
              <a:rPr lang="ru-RU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скобки</a:t>
            </a:r>
            <a:r>
              <a:rPr lang="ru-RU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endParaRPr lang="en-US" sz="24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if f: print(A);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</a:p>
          <a:p>
            <a:pPr marL="0" indent="0">
              <a:buNone/>
            </a:pPr>
            <a:endParaRPr 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215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</a:t>
            </a:r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A in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range(1,100):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all( (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ru-RU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49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ru-RU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</a:p>
          <a:p>
            <a:pPr marL="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(</a:t>
            </a:r>
            <a:r>
              <a:rPr lang="ru-RU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ru-RU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41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ru-RU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ru-RU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А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ru-RU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) \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for x in range(1,100))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ОБЯЗАТЕЛЬНО добавить </a:t>
            </a:r>
            <a:r>
              <a:rPr lang="ru-RU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скобки</a:t>
            </a:r>
            <a:r>
              <a:rPr lang="ru-RU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endParaRPr lang="en-US" sz="24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if f: print(A);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</a:p>
          <a:p>
            <a:pPr marL="0" indent="0">
              <a:buNone/>
            </a:pP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180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</a:t>
            </a:r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A in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range(1,100):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f = all(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== 0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(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(x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== 0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(x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== 0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) \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for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in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range(1,100))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if f: print(A);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Ответ: 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  <a:endParaRPr lang="en-US" sz="24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741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394" y="260648"/>
            <a:ext cx="9114606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Задание на координатную плоскость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0000FF"/>
                </a:solidFill>
              </a:rPr>
              <a:t>Пример </a:t>
            </a:r>
            <a:r>
              <a:rPr lang="ru-RU" dirty="0"/>
              <a:t>задачи </a:t>
            </a:r>
            <a:r>
              <a:rPr lang="ru-RU" dirty="0">
                <a:solidFill>
                  <a:srgbClr val="0000FF"/>
                </a:solidFill>
              </a:rPr>
              <a:t>№ </a:t>
            </a:r>
            <a:r>
              <a:rPr lang="ru-RU" dirty="0" smtClean="0">
                <a:solidFill>
                  <a:srgbClr val="0000FF"/>
                </a:solidFill>
              </a:rPr>
              <a:t>7</a:t>
            </a:r>
            <a:r>
              <a:rPr lang="ru-RU" dirty="0" smtClean="0"/>
              <a:t>:</a:t>
            </a:r>
            <a:endParaRPr lang="ru-RU" dirty="0"/>
          </a:p>
          <a:p>
            <a:pPr marL="400050" lvl="1" indent="0">
              <a:buNone/>
            </a:pPr>
            <a:r>
              <a:rPr lang="ru-RU" sz="2600" dirty="0"/>
              <a:t>(№ 1073) Укажите </a:t>
            </a:r>
            <a:r>
              <a:rPr lang="ru-RU" sz="2600" dirty="0">
                <a:solidFill>
                  <a:srgbClr val="00B050"/>
                </a:solidFill>
              </a:rPr>
              <a:t>наибольшее</a:t>
            </a:r>
            <a:r>
              <a:rPr lang="ru-RU" sz="2600" dirty="0"/>
              <a:t> целое значение А, при котором выражение</a:t>
            </a:r>
          </a:p>
          <a:p>
            <a:pPr marL="400050" lvl="1" indent="0">
              <a:buNone/>
            </a:pPr>
            <a:r>
              <a:rPr lang="ru-RU" sz="2600" dirty="0"/>
              <a:t>(</a:t>
            </a:r>
            <a:r>
              <a:rPr lang="ru-RU" sz="2600" dirty="0" err="1"/>
              <a:t>5y</a:t>
            </a:r>
            <a:r>
              <a:rPr lang="ru-RU" sz="2600" dirty="0"/>
              <a:t> + </a:t>
            </a:r>
            <a:r>
              <a:rPr lang="ru-RU" sz="2600" dirty="0" err="1"/>
              <a:t>7x</a:t>
            </a:r>
            <a:r>
              <a:rPr lang="ru-RU" sz="2600" dirty="0"/>
              <a:t> ≠ 129) ∨ (</a:t>
            </a:r>
            <a:r>
              <a:rPr lang="ru-RU" sz="2600" dirty="0" err="1"/>
              <a:t>3x</a:t>
            </a:r>
            <a:r>
              <a:rPr lang="ru-RU" sz="2600" dirty="0"/>
              <a:t> &gt; A) ∨ (</a:t>
            </a:r>
            <a:r>
              <a:rPr lang="ru-RU" sz="2600" dirty="0" err="1"/>
              <a:t>4y</a:t>
            </a:r>
            <a:r>
              <a:rPr lang="ru-RU" sz="2600" dirty="0"/>
              <a:t> &gt; A)</a:t>
            </a:r>
          </a:p>
          <a:p>
            <a:pPr marL="400050" lvl="1" indent="0">
              <a:buNone/>
            </a:pPr>
            <a:r>
              <a:rPr lang="ru-RU" sz="2600" dirty="0" smtClean="0"/>
              <a:t>истинно </a:t>
            </a:r>
            <a:r>
              <a:rPr lang="ru-RU" sz="2600" dirty="0"/>
              <a:t>для любых целых </a:t>
            </a:r>
            <a:r>
              <a:rPr lang="ru-RU" sz="2600" dirty="0">
                <a:solidFill>
                  <a:srgbClr val="00B0F0"/>
                </a:solidFill>
              </a:rPr>
              <a:t>положительных</a:t>
            </a:r>
            <a:r>
              <a:rPr lang="ru-RU" sz="2600" dirty="0"/>
              <a:t> </a:t>
            </a:r>
            <a:r>
              <a:rPr lang="ru-RU" sz="2600" dirty="0" smtClean="0"/>
              <a:t>значений </a:t>
            </a:r>
            <a:br>
              <a:rPr lang="ru-RU" sz="2600" dirty="0" smtClean="0"/>
            </a:br>
            <a:r>
              <a:rPr lang="ru-RU" sz="2600" dirty="0" smtClean="0"/>
              <a:t>x </a:t>
            </a:r>
            <a:r>
              <a:rPr lang="ru-RU" sz="2600" dirty="0"/>
              <a:t>и y.</a:t>
            </a:r>
          </a:p>
        </p:txBody>
      </p:sp>
    </p:spTree>
    <p:extLst>
      <p:ext uri="{BB962C8B-B14F-4D97-AF65-F5344CB8AC3E}">
        <p14:creationId xmlns:p14="http://schemas.microsoft.com/office/powerpoint/2010/main" val="1942461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Шаблон №</a:t>
            </a:r>
            <a:r>
              <a:rPr lang="en-US" dirty="0" smtClean="0"/>
              <a:t>6</a:t>
            </a:r>
            <a:r>
              <a:rPr lang="ru-RU" dirty="0" smtClean="0"/>
              <a:t> программы решения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 A in 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range(…,…)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 = all(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…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for x in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(…,…)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\  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for y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range(…,…)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if f: print(A); break 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03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№7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A in 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range(</a:t>
            </a:r>
            <a:r>
              <a:rPr lang="ru-RU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300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b="1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 = all(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6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600" spc="-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5y+7x</a:t>
            </a:r>
            <a:r>
              <a:rPr lang="ru-RU" sz="26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≠ </a:t>
            </a:r>
            <a:r>
              <a:rPr lang="ru-RU" sz="2600" b="1" spc="-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129</a:t>
            </a:r>
            <a:r>
              <a:rPr lang="ru-RU" sz="26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∨ (</a:t>
            </a:r>
            <a:r>
              <a:rPr lang="ru-RU" sz="2600" spc="-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3x</a:t>
            </a:r>
            <a:r>
              <a:rPr lang="ru-RU" sz="26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&gt;A) ∨ (</a:t>
            </a:r>
            <a:r>
              <a:rPr lang="ru-RU" sz="2600" spc="-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4y</a:t>
            </a:r>
            <a:r>
              <a:rPr lang="ru-RU" sz="26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&gt;A)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</a:p>
          <a:p>
            <a:pPr marL="400050" lvl="1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 x in 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range(</a:t>
            </a:r>
            <a:r>
              <a:rPr lang="ru-RU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300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b="1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</a:p>
          <a:p>
            <a:pPr marL="0" lvl="1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y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range(</a:t>
            </a:r>
            <a:r>
              <a:rPr lang="ru-RU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300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if f: print(A); break </a:t>
            </a:r>
          </a:p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Важно</a:t>
            </a:r>
            <a:r>
              <a:rPr lang="en-US" sz="24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br>
              <a:rPr lang="en-US" sz="24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24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Интервалы рассмотрения значений </a:t>
            </a:r>
            <a:r>
              <a:rPr lang="ru-RU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убывающие</a:t>
            </a:r>
            <a:r>
              <a:rPr lang="ru-RU" sz="24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endParaRPr lang="ru-RU" sz="2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49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№7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A in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300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f = all(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6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600" spc="-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5y+7x</a:t>
            </a:r>
            <a:r>
              <a:rPr lang="ru-RU" sz="26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600" b="1" spc="-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≠ </a:t>
            </a:r>
            <a:r>
              <a:rPr lang="ru-RU" sz="2600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129) </a:t>
            </a:r>
            <a:r>
              <a:rPr lang="ru-RU" sz="2600" b="1" spc="-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∨ </a:t>
            </a:r>
            <a:r>
              <a:rPr lang="ru-RU" sz="2600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600" spc="-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3x</a:t>
            </a:r>
            <a:r>
              <a:rPr lang="ru-RU" sz="26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&gt;A</a:t>
            </a:r>
            <a:r>
              <a:rPr lang="ru-RU" sz="2600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ru-RU" sz="2600" b="1" spc="-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∨ </a:t>
            </a:r>
            <a:r>
              <a:rPr lang="ru-RU" sz="2600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600" spc="-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4y</a:t>
            </a:r>
            <a:r>
              <a:rPr lang="ru-RU" sz="26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&gt;A)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)\</a:t>
            </a:r>
            <a:endParaRPr 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x in range(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300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\ </a:t>
            </a:r>
          </a:p>
          <a:p>
            <a:pPr marL="40005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	for y in range(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300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if f: print(A); break 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214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№7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A in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300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f = all(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6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(5</a:t>
            </a:r>
            <a:r>
              <a:rPr lang="en-US" sz="2600" b="1" spc="-2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ru-RU" sz="2600" spc="-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y+7</a:t>
            </a:r>
            <a:r>
              <a:rPr lang="en-US" sz="2600" b="1" spc="-2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ru-RU" sz="26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ru-RU" sz="2600" b="1" spc="-2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ru-RU" sz="26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129)</a:t>
            </a:r>
            <a:r>
              <a:rPr lang="en-US" sz="2600" b="1" spc="-2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ru-RU" sz="26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(3</a:t>
            </a:r>
            <a:r>
              <a:rPr lang="en-US" sz="2600" b="1" spc="-2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ru-RU" sz="26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x&gt;A)</a:t>
            </a:r>
            <a:r>
              <a:rPr lang="en-US" sz="2600" b="1" spc="-2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ru-RU" sz="26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(4</a:t>
            </a:r>
            <a:r>
              <a:rPr lang="en-US" sz="2600" b="1" spc="-2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ru-RU" sz="26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y&gt;A)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)\</a:t>
            </a:r>
            <a:endParaRPr 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in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300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\ </a:t>
            </a:r>
          </a:p>
          <a:p>
            <a:pPr marL="400050" lvl="1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for y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 range(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300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if f: print(A); break </a:t>
            </a:r>
          </a:p>
          <a:p>
            <a:pPr marL="0" indent="0">
              <a:buNone/>
            </a:pP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549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Программа решения примера №7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A in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300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f = all(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6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(5</a:t>
            </a:r>
            <a:r>
              <a:rPr lang="en-US" sz="26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ru-RU" sz="2600" spc="-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y+7</a:t>
            </a:r>
            <a:r>
              <a:rPr lang="en-US" sz="26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ru-RU" sz="26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x!=129)</a:t>
            </a:r>
            <a:r>
              <a:rPr lang="en-US" sz="26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ru-RU" sz="26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(3</a:t>
            </a:r>
            <a:r>
              <a:rPr lang="en-US" sz="26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ru-RU" sz="26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x&gt;A)</a:t>
            </a:r>
            <a:r>
              <a:rPr lang="en-US" sz="26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ru-RU" sz="26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(4</a:t>
            </a:r>
            <a:r>
              <a:rPr lang="en-US" sz="26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ru-RU" sz="26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y&gt;A)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)\</a:t>
            </a:r>
            <a:endParaRPr 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in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range(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300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\ </a:t>
            </a:r>
          </a:p>
          <a:p>
            <a:pPr marL="400050" lvl="1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for y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 range(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300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if f: print(A);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break 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Ответ: 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35</a:t>
            </a:r>
            <a:endParaRPr lang="en-US" sz="24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82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Спасибо за внимание!</a:t>
            </a: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Мы рассмотрели в этой презентации все варианты заданий №15 экзамена ЕГЭ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Успехов в решениях!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0014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1528</TotalTime>
  <Words>2878</Words>
  <Application>Microsoft Office PowerPoint</Application>
  <PresentationFormat>Экран (4:3)</PresentationFormat>
  <Paragraphs>402</Paragraphs>
  <Slides>54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54</vt:i4>
      </vt:variant>
    </vt:vector>
  </HeadingPairs>
  <TitlesOfParts>
    <vt:vector size="59" baseType="lpstr">
      <vt:lpstr>Arial</vt:lpstr>
      <vt:lpstr>Arial Narrow</vt:lpstr>
      <vt:lpstr>Calibri</vt:lpstr>
      <vt:lpstr>Courier New</vt:lpstr>
      <vt:lpstr>Тема Office</vt:lpstr>
      <vt:lpstr>Алгоритмы решения задания 15</vt:lpstr>
      <vt:lpstr>Источники</vt:lpstr>
      <vt:lpstr>Виды заданий</vt:lpstr>
      <vt:lpstr>Задание с отрезками: особенности </vt:lpstr>
      <vt:lpstr>Задание с отрезками</vt:lpstr>
      <vt:lpstr>Шаблон №1 программы решения</vt:lpstr>
      <vt:lpstr>Программа решения примера №1</vt:lpstr>
      <vt:lpstr>Программа решения примера №1</vt:lpstr>
      <vt:lpstr>Программа решения примера №1</vt:lpstr>
      <vt:lpstr>Программа решения примера №1</vt:lpstr>
      <vt:lpstr>Программа решения примера №1</vt:lpstr>
      <vt:lpstr>Задание с отрезками</vt:lpstr>
      <vt:lpstr>Шаблон №2 программа решения</vt:lpstr>
      <vt:lpstr>Программа решения примера №2</vt:lpstr>
      <vt:lpstr>Программа решения примера №2</vt:lpstr>
      <vt:lpstr>Программа решения примера №2</vt:lpstr>
      <vt:lpstr>Программа решения примера №2</vt:lpstr>
      <vt:lpstr>Задание на множества: особенности </vt:lpstr>
      <vt:lpstr>Задание на множества: алгоритм </vt:lpstr>
      <vt:lpstr>Задание на множества</vt:lpstr>
      <vt:lpstr>Шаблон №3 программы решения</vt:lpstr>
      <vt:lpstr>Программа решения примера №3</vt:lpstr>
      <vt:lpstr>Программа решения примера №3</vt:lpstr>
      <vt:lpstr>Программа решения примера №3</vt:lpstr>
      <vt:lpstr>Программа решения примера №3</vt:lpstr>
      <vt:lpstr>Задание на множества</vt:lpstr>
      <vt:lpstr>Шаблон №4 программы решения</vt:lpstr>
      <vt:lpstr>Программа решения примера №4</vt:lpstr>
      <vt:lpstr>Программа решения примера №4</vt:lpstr>
      <vt:lpstr>Программа решения примера №4</vt:lpstr>
      <vt:lpstr>Программа решения примера №4</vt:lpstr>
      <vt:lpstr>Программа решения примера №4</vt:lpstr>
      <vt:lpstr>Делимость, поразрядная конъюнкция и координатная плоскость </vt:lpstr>
      <vt:lpstr>Обобщенный алгоритм</vt:lpstr>
      <vt:lpstr>Задание на делимость</vt:lpstr>
      <vt:lpstr>Шаблон №5 программы решения</vt:lpstr>
      <vt:lpstr>Программа решения примера №5</vt:lpstr>
      <vt:lpstr>Программа решения примера №5</vt:lpstr>
      <vt:lpstr>Программа решения примера №5</vt:lpstr>
      <vt:lpstr>Программа решения примера №5</vt:lpstr>
      <vt:lpstr>Программа решения примера №5</vt:lpstr>
      <vt:lpstr>Задание на поразрядную конъюнкцию</vt:lpstr>
      <vt:lpstr>Шаблон №5 программы решения</vt:lpstr>
      <vt:lpstr>Программа решения примера №6</vt:lpstr>
      <vt:lpstr>Программа решения примера №6</vt:lpstr>
      <vt:lpstr>Программа решения примера №6</vt:lpstr>
      <vt:lpstr>Программа решения примера №6</vt:lpstr>
      <vt:lpstr>Задание на координатную плоскость</vt:lpstr>
      <vt:lpstr>Шаблон №6 программы решения</vt:lpstr>
      <vt:lpstr>Программа решения примера №7</vt:lpstr>
      <vt:lpstr>Программа решения примера №7</vt:lpstr>
      <vt:lpstr>Программа решения примера №7</vt:lpstr>
      <vt:lpstr>Программа решения примера №7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Алгоритмы решения задания 15</dc:title>
  <dc:creator>Максим</dc:creator>
  <cp:lastModifiedBy>Maxim</cp:lastModifiedBy>
  <cp:revision>55</cp:revision>
  <dcterms:created xsi:type="dcterms:W3CDTF">2023-04-04T06:50:22Z</dcterms:created>
  <dcterms:modified xsi:type="dcterms:W3CDTF">2025-02-14T06:39:10Z</dcterms:modified>
</cp:coreProperties>
</file>